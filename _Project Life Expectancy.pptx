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Maven Pro"/>
      <p:regular r:id="rId20"/>
      <p:bold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regular.fntdata"/><Relationship Id="rId22" Type="http://schemas.openxmlformats.org/officeDocument/2006/relationships/font" Target="fonts/RobotoMono-regular.fntdata"/><Relationship Id="rId21" Type="http://schemas.openxmlformats.org/officeDocument/2006/relationships/font" Target="fonts/MavenPro-bold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19" Type="http://schemas.openxmlformats.org/officeDocument/2006/relationships/font" Target="fonts/Nunito-boldItalic.fntdata"/><Relationship Id="rId18" Type="http://schemas.openxmlformats.org/officeDocument/2006/relationships/font" Target="fonts/Nuni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84c6187c2_0_2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c84c6187c2_0_2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84c6187c2_0_2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84c6187c2_0_2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84c6187c2_0_2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84c6187c2_0_2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84c6187c2_0_2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84c6187c2_0_2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84c6187c2_0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84c6187c2_0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84c6187c2_0_2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c84c6187c2_0_2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84c6187c2_0_2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c84c6187c2_0_2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84c6187c2_0_2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c84c6187c2_0_2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84c6187c2_0_2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84c6187c2_0_2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p14:dur="100">
        <p14:prism dir="l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title"/>
          </p:nvPr>
        </p:nvSpPr>
        <p:spPr>
          <a:xfrm>
            <a:off x="0" y="29775"/>
            <a:ext cx="4637400" cy="13920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>
                <a:solidFill>
                  <a:schemeClr val="lt1"/>
                </a:solidFill>
              </a:rPr>
              <a:t>Global Life Expectancy: Analyzing Trends and WHO Metrics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8" name="Google Shape;278;p13"/>
          <p:cNvSpPr txBox="1"/>
          <p:nvPr>
            <p:ph idx="2" type="body"/>
          </p:nvPr>
        </p:nvSpPr>
        <p:spPr>
          <a:xfrm>
            <a:off x="4838325" y="0"/>
            <a:ext cx="43056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 txBox="1"/>
          <p:nvPr>
            <p:ph idx="1" type="subTitle"/>
          </p:nvPr>
        </p:nvSpPr>
        <p:spPr>
          <a:xfrm>
            <a:off x="96775" y="2307500"/>
            <a:ext cx="3751500" cy="6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>
                <a:solidFill>
                  <a:srgbClr val="FFFF00"/>
                </a:solidFill>
              </a:rPr>
              <a:t>Presented by: Menna Tuallah Ahmed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280" name="Google Shape;280;p13" title="A_composite_digital_digital_illustration_encapsula_vertical.png"/>
          <p:cNvPicPr preferRelativeResize="0"/>
          <p:nvPr/>
        </p:nvPicPr>
        <p:blipFill rotWithShape="1">
          <a:blip r:embed="rId3">
            <a:alphaModFix/>
          </a:blip>
          <a:srcRect b="0" l="0" r="-1502" t="9214"/>
          <a:stretch/>
        </p:blipFill>
        <p:spPr>
          <a:xfrm>
            <a:off x="4890425" y="29775"/>
            <a:ext cx="4213050" cy="507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133975" y="133975"/>
            <a:ext cx="5597700" cy="12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4600">
                <a:solidFill>
                  <a:srgbClr val="FFFF00"/>
                </a:solidFill>
              </a:rPr>
              <a:t>Project Objective</a:t>
            </a:r>
            <a:r>
              <a:rPr lang="ar" sz="4600">
                <a:solidFill>
                  <a:srgbClr val="FFFFFF"/>
                </a:solidFill>
              </a:rPr>
              <a:t> </a:t>
            </a:r>
            <a:endParaRPr sz="4600">
              <a:solidFill>
                <a:srgbClr val="FFFFFF"/>
              </a:solidFill>
            </a:endParaRPr>
          </a:p>
        </p:txBody>
      </p:sp>
      <p:sp>
        <p:nvSpPr>
          <p:cNvPr id="286" name="Google Shape;286;p14"/>
          <p:cNvSpPr txBox="1"/>
          <p:nvPr>
            <p:ph idx="1" type="body"/>
          </p:nvPr>
        </p:nvSpPr>
        <p:spPr>
          <a:xfrm>
            <a:off x="133975" y="1332400"/>
            <a:ext cx="8061300" cy="31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800">
                <a:solidFill>
                  <a:srgbClr val="000000"/>
                </a:solidFill>
              </a:rPr>
              <a:t>1-</a:t>
            </a:r>
            <a:r>
              <a:rPr lang="ar" sz="1800">
                <a:solidFill>
                  <a:srgbClr val="FFFFFF"/>
                </a:solidFill>
              </a:rPr>
              <a:t>Predict the average life expectancy of countries</a:t>
            </a:r>
            <a:br>
              <a:rPr lang="ar" sz="1800">
                <a:solidFill>
                  <a:srgbClr val="FFFFFF"/>
                </a:solidFill>
              </a:rPr>
            </a:br>
            <a:r>
              <a:rPr lang="ar" sz="1800">
                <a:solidFill>
                  <a:srgbClr val="FFFFFF"/>
                </a:solidFill>
              </a:rPr>
              <a:t> based on health, economic, and social indicators.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800">
                <a:solidFill>
                  <a:srgbClr val="000000"/>
                </a:solidFill>
              </a:rPr>
              <a:t>2-</a:t>
            </a:r>
            <a:r>
              <a:rPr lang="ar" sz="1800">
                <a:solidFill>
                  <a:schemeClr val="lt1"/>
                </a:solidFill>
              </a:rPr>
              <a:t>Analyze the impact of factors like GDP,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800">
                <a:solidFill>
                  <a:schemeClr val="lt1"/>
                </a:solidFill>
              </a:rPr>
              <a:t>immunization, mortality rates, and BMI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800">
                <a:solidFill>
                  <a:schemeClr val="lt1"/>
                </a:solidFill>
              </a:rPr>
              <a:t>on life expectancy levels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800">
                <a:solidFill>
                  <a:srgbClr val="000000"/>
                </a:solidFill>
              </a:rPr>
              <a:t>3-</a:t>
            </a:r>
            <a:r>
              <a:rPr lang="ar" sz="1800">
                <a:solidFill>
                  <a:schemeClr val="lt1"/>
                </a:solidFill>
              </a:rPr>
              <a:t>Support policymakers and healthcare</a:t>
            </a:r>
            <a:br>
              <a:rPr lang="ar" sz="1800">
                <a:solidFill>
                  <a:schemeClr val="lt1"/>
                </a:solidFill>
              </a:rPr>
            </a:br>
            <a:r>
              <a:rPr lang="ar" sz="1800">
                <a:solidFill>
                  <a:schemeClr val="lt1"/>
                </a:solidFill>
              </a:rPr>
              <a:t> organizations with data-based insights</a:t>
            </a:r>
            <a:br>
              <a:rPr lang="ar" sz="1800">
                <a:solidFill>
                  <a:schemeClr val="lt1"/>
                </a:solidFill>
              </a:rPr>
            </a:br>
            <a:r>
              <a:rPr lang="ar" sz="1800">
                <a:solidFill>
                  <a:schemeClr val="lt1"/>
                </a:solidFill>
              </a:rPr>
              <a:t> to improve population health outcomes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287" name="Google Shape;287;p14"/>
          <p:cNvCxnSpPr/>
          <p:nvPr/>
        </p:nvCxnSpPr>
        <p:spPr>
          <a:xfrm>
            <a:off x="1540825" y="3245400"/>
            <a:ext cx="714600" cy="7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105375" y="3306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>
                <a:solidFill>
                  <a:srgbClr val="FFFF00"/>
                </a:solidFill>
              </a:rPr>
              <a:t> </a:t>
            </a:r>
            <a:r>
              <a:rPr lang="ar" sz="4700">
                <a:solidFill>
                  <a:srgbClr val="FFFF00"/>
                </a:solidFill>
              </a:rPr>
              <a:t>Data Description</a:t>
            </a:r>
            <a:endParaRPr sz="4700">
              <a:solidFill>
                <a:srgbClr val="FFFF00"/>
              </a:solidFill>
            </a:endParaRPr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105375" y="1329900"/>
            <a:ext cx="9038700" cy="3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ar" sz="9696">
                <a:solidFill>
                  <a:srgbClr val="FFFF00"/>
                </a:solidFill>
              </a:rPr>
              <a:t>Key Data Attributes                               </a:t>
            </a:r>
            <a:r>
              <a:rPr b="1" i="1" lang="ar" sz="10896">
                <a:solidFill>
                  <a:srgbClr val="FFFF00"/>
                </a:solidFill>
              </a:rPr>
              <a:t>  Libraries  </a:t>
            </a:r>
            <a:r>
              <a:rPr b="1" i="1" lang="ar" sz="9696">
                <a:solidFill>
                  <a:srgbClr val="FFFF00"/>
                </a:solidFill>
              </a:rPr>
              <a:t>                                                                                                    </a:t>
            </a:r>
            <a:endParaRPr b="1" i="1" sz="9696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6619">
                <a:solidFill>
                  <a:schemeClr val="lt1"/>
                </a:solidFill>
              </a:rPr>
              <a:t>•Country                                    •</a:t>
            </a:r>
            <a:r>
              <a:rPr b="1" lang="ar" sz="6619">
                <a:solidFill>
                  <a:srgbClr val="000000"/>
                </a:solidFill>
              </a:rPr>
              <a:t> </a:t>
            </a:r>
            <a:r>
              <a:rPr b="1" lang="ar" sz="6619">
                <a:solidFill>
                  <a:schemeClr val="lt1"/>
                </a:solidFill>
              </a:rPr>
              <a:t>GDP                                    • NumPy → Numerical Analysis</a:t>
            </a:r>
            <a:endParaRPr b="1" sz="6619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6619">
                <a:solidFill>
                  <a:schemeClr val="lt1"/>
                </a:solidFill>
              </a:rPr>
              <a:t>•Year                                           • BMI                                    •  Pandas → Data Processing                                                                                                                                                      </a:t>
            </a:r>
            <a:endParaRPr b="1" sz="6619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6619">
                <a:solidFill>
                  <a:schemeClr val="lt1"/>
                </a:solidFill>
              </a:rPr>
              <a:t>•Status                                       • Population                       •  Matplotlib → Visualization</a:t>
            </a:r>
            <a:endParaRPr b="1" sz="6619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6619">
                <a:solidFill>
                  <a:schemeClr val="lt1"/>
                </a:solidFill>
              </a:rPr>
              <a:t>•Life expectancy                        • Schooling                        •  Seaborn → Statistical Plots</a:t>
            </a:r>
            <a:endParaRPr b="1" sz="6619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6619">
                <a:solidFill>
                  <a:schemeClr val="lt1"/>
                </a:solidFill>
              </a:rPr>
              <a:t>• Adult Mortality                       • Alcohol                            • Scikit-learn → Machine Learning</a:t>
            </a:r>
            <a:endParaRPr b="1" sz="34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6619">
                <a:solidFill>
                  <a:schemeClr val="lt1"/>
                </a:solidFill>
              </a:rPr>
              <a:t>•Infant deaths                           •Immunization rates      </a:t>
            </a:r>
            <a:endParaRPr b="1" sz="6619">
              <a:solidFill>
                <a:schemeClr val="lt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7011825" y="2597800"/>
            <a:ext cx="28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type="title"/>
          </p:nvPr>
        </p:nvSpPr>
        <p:spPr>
          <a:xfrm>
            <a:off x="59550" y="126550"/>
            <a:ext cx="8969400" cy="12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ar" sz="2620">
                <a:solidFill>
                  <a:srgbClr val="FFFF00"/>
                </a:solidFill>
              </a:rPr>
              <a:t>Data Exploration and Preprocessing Strategy</a:t>
            </a:r>
            <a:endParaRPr i="1" sz="262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ar" sz="1620">
                <a:solidFill>
                  <a:schemeClr val="lt1"/>
                </a:solidFill>
              </a:rPr>
              <a:t>The dataset was carefully explored and cleaned to ensure high data quality before training the model.Several preprocessing steps were applied to handle missing values, outliers, and ensure data </a:t>
            </a:r>
            <a:r>
              <a:rPr b="0" lang="ar" sz="1720">
                <a:solidFill>
                  <a:schemeClr val="lt1"/>
                </a:solidFill>
              </a:rPr>
              <a:t>consistency.</a:t>
            </a:r>
            <a:endParaRPr b="0" sz="1720">
              <a:solidFill>
                <a:schemeClr val="lt1"/>
              </a:solidFill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89325" y="2017200"/>
            <a:ext cx="595500" cy="7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684825" y="1680600"/>
            <a:ext cx="30000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ar" sz="1700">
                <a:solidFill>
                  <a:schemeClr val="lt1"/>
                </a:solidFill>
              </a:rPr>
              <a:t>I</a:t>
            </a:r>
            <a:r>
              <a:rPr b="1" lang="ar" sz="1700">
                <a:solidFill>
                  <a:schemeClr val="lt1"/>
                </a:solidFill>
              </a:rPr>
              <a:t>nitial Data Exploration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ar" sz="1100">
                <a:solidFill>
                  <a:schemeClr val="lt1"/>
                </a:solidFill>
              </a:rPr>
              <a:t>• Used </a:t>
            </a:r>
            <a:r>
              <a:rPr lang="ar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df.info()</a:t>
            </a:r>
            <a:r>
              <a:rPr lang="ar" sz="1100">
                <a:solidFill>
                  <a:schemeClr val="lt1"/>
                </a:solidFill>
              </a:rPr>
              <a:t> to review data types and non-null values</a:t>
            </a:r>
            <a:br>
              <a:rPr lang="ar" sz="1100">
                <a:solidFill>
                  <a:schemeClr val="lt1"/>
                </a:solidFill>
              </a:rPr>
            </a:br>
            <a:r>
              <a:rPr lang="ar" sz="1100">
                <a:solidFill>
                  <a:schemeClr val="lt1"/>
                </a:solidFill>
              </a:rPr>
              <a:t> • Used </a:t>
            </a:r>
            <a:r>
              <a:rPr lang="ar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df.describe()</a:t>
            </a:r>
            <a:r>
              <a:rPr lang="ar" sz="1100">
                <a:solidFill>
                  <a:schemeClr val="lt1"/>
                </a:solidFill>
              </a:rPr>
              <a:t> to analyze statistical distribution</a:t>
            </a:r>
            <a:br>
              <a:rPr lang="ar" sz="1100">
                <a:solidFill>
                  <a:schemeClr val="lt1"/>
                </a:solidFill>
              </a:rPr>
            </a:br>
            <a:r>
              <a:rPr lang="ar" sz="1100">
                <a:solidFill>
                  <a:schemeClr val="lt1"/>
                </a:solidFill>
              </a:rPr>
              <a:t> • Explored feature relationships and overall dataset structure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302" name="Google Shape;302;p16" title="لقطة شاشة 2026-02-16 1405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1625" y="1088575"/>
            <a:ext cx="2110175" cy="232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6" title="لقطة شاشة 2026-02-16 1416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300" y="3195125"/>
            <a:ext cx="6653400" cy="18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 txBox="1"/>
          <p:nvPr>
            <p:ph type="title"/>
          </p:nvPr>
        </p:nvSpPr>
        <p:spPr>
          <a:xfrm>
            <a:off x="0" y="107450"/>
            <a:ext cx="63996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ar" sz="29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Missing Data &amp; Outlier Treatment</a:t>
            </a:r>
            <a:endParaRPr b="0" i="1" sz="4600">
              <a:solidFill>
                <a:srgbClr val="FFFF00"/>
              </a:solidFill>
            </a:endParaRPr>
          </a:p>
        </p:txBody>
      </p:sp>
      <p:sp>
        <p:nvSpPr>
          <p:cNvPr id="309" name="Google Shape;309;p17"/>
          <p:cNvSpPr txBox="1"/>
          <p:nvPr>
            <p:ph idx="1" type="body"/>
          </p:nvPr>
        </p:nvSpPr>
        <p:spPr>
          <a:xfrm>
            <a:off x="68550" y="647400"/>
            <a:ext cx="4418700" cy="44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a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Missing Values Handling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Missing values were detected and handled appropriately to maintain dataset quality.Columns that contained missing values included: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Life expectancy</a:t>
            </a:r>
            <a:b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• GDP</a:t>
            </a:r>
            <a:b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• BMI</a:t>
            </a:r>
            <a:b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• Schooling</a:t>
            </a:r>
            <a:b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• Alcohol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0" name="Google Shape;310;p17"/>
          <p:cNvSpPr txBox="1"/>
          <p:nvPr>
            <p:ph idx="2" type="body"/>
          </p:nvPr>
        </p:nvSpPr>
        <p:spPr>
          <a:xfrm>
            <a:off x="4874125" y="692150"/>
            <a:ext cx="4211700" cy="44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a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Outlier Detection &amp; Treatment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Outliers were identified using statistical analysis and visualization techniques.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Columns where outliers were detected: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GDP</a:t>
            </a:r>
            <a:b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• Population</a:t>
            </a:r>
            <a:b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• Adult Mortality</a:t>
            </a:r>
            <a:b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• Infant deaths</a:t>
            </a:r>
            <a:b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• Measles</a:t>
            </a:r>
            <a:b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• BMI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Total expenditure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17" title="لقطة شاشة 2026-02-16 1436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325" y="1627625"/>
            <a:ext cx="2165450" cy="333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7" title="لقطة شاشة 2026-02-16 1506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8375" y="2350775"/>
            <a:ext cx="3215125" cy="22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>
            <p:ph type="title"/>
          </p:nvPr>
        </p:nvSpPr>
        <p:spPr>
          <a:xfrm>
            <a:off x="0" y="96750"/>
            <a:ext cx="82821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3300">
                <a:solidFill>
                  <a:srgbClr val="FFFF00"/>
                </a:solidFill>
              </a:rPr>
              <a:t>Handling Missing Values and Outliers</a:t>
            </a:r>
            <a:endParaRPr sz="3300">
              <a:solidFill>
                <a:srgbClr val="FFFF00"/>
              </a:solidFill>
            </a:endParaRPr>
          </a:p>
        </p:txBody>
      </p:sp>
      <p:sp>
        <p:nvSpPr>
          <p:cNvPr id="318" name="Google Shape;318;p18"/>
          <p:cNvSpPr txBox="1"/>
          <p:nvPr>
            <p:ph idx="2" type="body"/>
          </p:nvPr>
        </p:nvSpPr>
        <p:spPr>
          <a:xfrm>
            <a:off x="4357550" y="768350"/>
            <a:ext cx="3430500" cy="41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 the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Interquartile Range (IQR)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method to identify outliers in numerical columns.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Replaced outliers (outside the lower/upper bounds) with the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median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value to maintain model stability.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Generated a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Box Plot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visualize the data distribution after outlier removal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"/>
          <p:cNvSpPr txBox="1"/>
          <p:nvPr/>
        </p:nvSpPr>
        <p:spPr>
          <a:xfrm>
            <a:off x="0" y="736950"/>
            <a:ext cx="2946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</a:rPr>
              <a:t>In this step, we addressed missing data by imputing the median value for all numerical columns. As shown in the result, </a:t>
            </a:r>
            <a:r>
              <a:rPr lang="ar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data.isnull().sum()</a:t>
            </a:r>
            <a:r>
              <a:rPr lang="ar" sz="1100">
                <a:solidFill>
                  <a:schemeClr val="lt1"/>
                </a:solidFill>
              </a:rPr>
              <a:t> confirms that all columns now have zero missing entries, ensuring our dataset is clean and ready for modeling.</a:t>
            </a:r>
            <a:endParaRPr/>
          </a:p>
        </p:txBody>
      </p:sp>
      <p:pic>
        <p:nvPicPr>
          <p:cNvPr id="320" name="Google Shape;320;p18" title="لقطة شاشة 2026-02-16 1656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0" y="2310925"/>
            <a:ext cx="3400726" cy="289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 title="لقطة شاشة 2026-02-16 1703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310925"/>
            <a:ext cx="2771399" cy="269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/>
          <p:nvPr>
            <p:ph type="title"/>
          </p:nvPr>
        </p:nvSpPr>
        <p:spPr>
          <a:xfrm>
            <a:off x="152400" y="106675"/>
            <a:ext cx="61266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</a:t>
            </a:r>
            <a:r>
              <a:rPr lang="ar" sz="3200">
                <a:solidFill>
                  <a:srgbClr val="FFFF00"/>
                </a:solidFill>
              </a:rPr>
              <a:t>Description of Visualizations</a:t>
            </a:r>
            <a:endParaRPr sz="3200">
              <a:solidFill>
                <a:srgbClr val="FFFF00"/>
              </a:solidFill>
            </a:endParaRPr>
          </a:p>
        </p:txBody>
      </p:sp>
      <p:sp>
        <p:nvSpPr>
          <p:cNvPr id="327" name="Google Shape;327;p19"/>
          <p:cNvSpPr txBox="1"/>
          <p:nvPr>
            <p:ph idx="2" type="body"/>
          </p:nvPr>
        </p:nvSpPr>
        <p:spPr>
          <a:xfrm>
            <a:off x="5513250" y="1013550"/>
            <a:ext cx="3430500" cy="37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 Correlations: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The heatmap reveals variables most strongly correlated with life expectancy (e.g., Schooling, GDP), helping in feature selection for the model.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Relationship with GDP: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Generally positive correlation; countries with higher GDP tend to have higher life expectancy.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Impact of Schooling: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The regression line shows a strong positive relationship; increased years of schooling directly correlate with higher life expectancy.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Life Expectancy Distribution: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The histogram visualizes the distribution of life expectancy across countries, with a significant concentration between 70 and 75 years.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19" title="لقطة شاشة 2026-02-16 1717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7750"/>
            <a:ext cx="2311425" cy="18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9" title="لقطة شاشة 2026-02-16 171921.png"/>
          <p:cNvPicPr preferRelativeResize="0"/>
          <p:nvPr/>
        </p:nvPicPr>
        <p:blipFill rotWithShape="1">
          <a:blip r:embed="rId4">
            <a:alphaModFix/>
          </a:blip>
          <a:srcRect b="-3700" l="2630" r="-2630" t="3700"/>
          <a:stretch/>
        </p:blipFill>
        <p:spPr>
          <a:xfrm>
            <a:off x="2367900" y="1184913"/>
            <a:ext cx="2607875" cy="18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9" title="لقطة شاشة 2026-02-16 17194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5" y="3337550"/>
            <a:ext cx="2395525" cy="176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9" title="لقطة شاشة 2026-02-16 172008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95187" y="3337550"/>
            <a:ext cx="2488608" cy="180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 txBox="1"/>
          <p:nvPr>
            <p:ph type="title"/>
          </p:nvPr>
        </p:nvSpPr>
        <p:spPr>
          <a:xfrm>
            <a:off x="252250" y="255675"/>
            <a:ext cx="64761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>
                <a:solidFill>
                  <a:srgbClr val="FFFF00"/>
                </a:solidFill>
              </a:rPr>
              <a:t>Analytical Insights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37" name="Google Shape;337;p20"/>
          <p:cNvSpPr txBox="1"/>
          <p:nvPr>
            <p:ph idx="1" type="body"/>
          </p:nvPr>
        </p:nvSpPr>
        <p:spPr>
          <a:xfrm>
            <a:off x="252250" y="1471900"/>
            <a:ext cx="8731800" cy="33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Heat Map        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strong Correlation: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As Schooling or GDP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increases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Life Expectancy significantly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increases</a:t>
            </a:r>
            <a:endParaRPr b="1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Scatter Plot               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Positive Trend: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Data scatters upwards, meaning countries with higher GDP have higher life expectancy, though variability decreases in wealthier nations.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Regression                      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Linear Increase: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 clear line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rises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from left to right; as years of schooling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increase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life expectancy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increases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steadily and predictably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Histogram                    </a:t>
            </a:r>
            <a:r>
              <a:rPr b="1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Distribution:</a:t>
            </a:r>
            <a:r>
              <a:rPr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Most data (number of countries) is concentrated on the right side (high life expectancy), with a "gap" in the middle of the distribution.          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1142975" y="1554475"/>
            <a:ext cx="5943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1219150" y="2270750"/>
            <a:ext cx="594300" cy="22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1142975" y="3192775"/>
            <a:ext cx="7161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1021075" y="4114675"/>
            <a:ext cx="655200" cy="12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"/>
          <p:cNvSpPr txBox="1"/>
          <p:nvPr>
            <p:ph type="title"/>
          </p:nvPr>
        </p:nvSpPr>
        <p:spPr>
          <a:xfrm>
            <a:off x="206525" y="187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>
                <a:solidFill>
                  <a:srgbClr val="FFFF00"/>
                </a:solidFill>
              </a:rPr>
              <a:t>Predicting Life Expectancy: From Baseline to High Accuracy Modals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32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Baseline Model: Linear Regression</a:t>
            </a:r>
            <a:endParaRPr sz="132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Simple, interpretable model</a:t>
            </a:r>
            <a:b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R² score: ~67% → moderate performance</a:t>
            </a:r>
            <a:b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Predicted life expectancy trend captured basic linear relationships</a:t>
            </a:r>
            <a:b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4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Improved Model: Random Forest Regressor</a:t>
            </a:r>
            <a:endParaRPr sz="14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Ensemble model capturing non-linear relationships</a:t>
            </a:r>
            <a:b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R² score: ~90% → significant improvement</a:t>
            </a:r>
            <a:b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a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Better predictions for countries with extreme values</a:t>
            </a:r>
            <a:endParaRPr b="0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7" name="Google Shape;347;p21" title="لقطة شاشة 2026-02-16 2305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7275" y="790150"/>
            <a:ext cx="2601049" cy="202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 title="لقطة شاشة 2026-02-16 2310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4775" y="3070850"/>
            <a:ext cx="423862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"/>
          <p:cNvSpPr txBox="1"/>
          <p:nvPr>
            <p:ph type="title"/>
          </p:nvPr>
        </p:nvSpPr>
        <p:spPr>
          <a:xfrm>
            <a:off x="214125" y="880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ar" sz="4000">
                <a:solidFill>
                  <a:srgbClr val="FFFF00"/>
                </a:solidFill>
              </a:rPr>
              <a:t>Conclusion</a:t>
            </a:r>
            <a:endParaRPr i="1" sz="4000">
              <a:solidFill>
                <a:srgbClr val="FFFF00"/>
              </a:solidFill>
            </a:endParaRPr>
          </a:p>
        </p:txBody>
      </p:sp>
      <p:sp>
        <p:nvSpPr>
          <p:cNvPr id="354" name="Google Shape;354;p22"/>
          <p:cNvSpPr txBox="1"/>
          <p:nvPr>
            <p:ph idx="1" type="body"/>
          </p:nvPr>
        </p:nvSpPr>
        <p:spPr>
          <a:xfrm>
            <a:off x="214125" y="1517575"/>
            <a:ext cx="4395900" cy="3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In conclusion, our analysis reveals that                                  increasing global life expectancy is not solely dependent on medical care, but is strongly correlated with </a:t>
            </a:r>
            <a:r>
              <a:rPr b="1" lang="ar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r>
              <a:rPr lang="ar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ar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GDP</a:t>
            </a:r>
            <a:r>
              <a:rPr lang="ar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By cleaning the data and handling outliers, we successfully built a predictive model with </a:t>
            </a:r>
            <a:r>
              <a:rPr b="1" lang="ar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90% accuracy</a:t>
            </a:r>
            <a:r>
              <a:rPr lang="ar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helping policymakers target the most impactful sectors to improve quality of life. 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</a:t>
            </a:r>
            <a:r>
              <a:rPr b="1" i="1" lang="ar" sz="415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1" lang="ar" sz="4156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1" sz="4156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ar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355" name="Google Shape;355;p22" title="life expectancy صوره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0025" y="340600"/>
            <a:ext cx="4229174" cy="28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2" title="لقطة شاشة 2026-02-16 2352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2050" y="3345200"/>
            <a:ext cx="1640321" cy="164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